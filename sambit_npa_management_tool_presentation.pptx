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D8BBA4-A278-44CC-81D9-C87C18C498B5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A63E3E-157B-47E4-9F16-6C6A97F8F9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734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A63E3E-157B-47E4-9F16-6C6A97F8F9B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65151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A63E3E-157B-47E4-9F16-6C6A97F8F9B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22734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A63E3E-157B-47E4-9F16-6C6A97F8F9B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4512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A63E3E-157B-47E4-9F16-6C6A97F8F9B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9833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6AE1E-7B14-9DFB-1821-F850A9F375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D1E887-74F5-3822-494E-81A5D555B5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F31E5-0E96-D9B8-7EB8-E8B4FE259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05251-78F4-4AC6-9802-334FC921E382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5086B-BE9A-57B4-ED17-386B17155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89399-4B31-7949-1D79-D7A72557B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3DE5A-5CB3-48A8-A0A6-3E12AD856D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019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AC2A1-03A0-72A1-DC9F-E81457C21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3BD9B-D40C-497E-90EC-432E99024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1F27A-144B-27EB-82BC-D90625DE3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05251-78F4-4AC6-9802-334FC921E382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FA0CE-80D4-F0D3-B8FF-96B37E3B3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14924-38D9-6333-74FB-3EFB54CDE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3DE5A-5CB3-48A8-A0A6-3E12AD856D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3684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F4E58-40D7-41AD-5B1A-C83E6391F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0B593C-D242-AE28-6B3B-E4F2FA0EE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23CD3-0321-89D8-EA27-BBDB74206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05251-78F4-4AC6-9802-334FC921E382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5FED2-6A7F-BD49-A0C3-12A3263F1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CD8F9-0911-EBD0-1A64-EC27ACA8E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3DE5A-5CB3-48A8-A0A6-3E12AD856D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3923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70264-7663-4DB3-A57A-A83E9548F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CF28B-B827-300C-5BA5-21E9469CAE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B5801E-8134-9070-57F3-B0647839F2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BBC401-5C40-C796-3AA8-80DE25C9C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05251-78F4-4AC6-9802-334FC921E382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861D5B-523D-67DF-F62B-E9B7EB7B6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89CFAB-9225-F7B6-86FD-901374420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3DE5A-5CB3-48A8-A0A6-3E12AD856D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9528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62D3C-E174-6A40-196D-45E87EE6B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6A9080-F90D-DB7E-CC95-3EEBC5715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E33C09-7942-030F-1C0C-0351CAEE3C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D1D502-6D1D-929C-5CD1-A4CFA47BEC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11F820-C39C-2604-1CDE-13FD97FE6B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5F230E-23C1-8B26-6D45-4EE168797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05251-78F4-4AC6-9802-334FC921E382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A1DE0C-F065-956C-CD0A-F80AF1274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ED668C-8B5F-FC8A-A04A-42C43BE7F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3DE5A-5CB3-48A8-A0A6-3E12AD856D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244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E00E2-7D3F-C764-5F7A-BC383C105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A0EC44-F482-8ECF-5DC9-23814DFF3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05251-78F4-4AC6-9802-334FC921E382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BDCBBE-7224-D460-0D36-9F1C85E25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A216F2-E212-D489-976A-7584F122F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3DE5A-5CB3-48A8-A0A6-3E12AD856D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440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CF6936-FB0C-6922-B972-E1B6C882C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05251-78F4-4AC6-9802-334FC921E382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6B499D-CE8D-7205-4E0F-F32DDA344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8F0FF-D29F-FD3C-BE01-2FD31C01B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3DE5A-5CB3-48A8-A0A6-3E12AD856D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658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54CE7-573D-C9E6-E40D-8261D9F92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F0588-A2C1-C88D-E572-7DF824228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298B8-00F3-D479-579C-73BB441C6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2E3659-67CF-697B-EF6D-B21A79FED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05251-78F4-4AC6-9802-334FC921E382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6B6339-2A3B-A443-3E68-6C57CDF76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F18323-F50C-B4DC-F5F3-05BA059E0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3DE5A-5CB3-48A8-A0A6-3E12AD856D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1889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284D8-C366-F8A9-FA68-E5BBA5053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A8F827-45A1-DB1D-33B7-CCDD59F297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A342E3-97A9-37EE-619F-331325A676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4B2AF6-5238-B0C9-9133-2A91C92CB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05251-78F4-4AC6-9802-334FC921E382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53997C-CD8C-1CEF-7328-CFDBA9E8E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0994FF-628B-76FD-F431-C80B5CE86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3DE5A-5CB3-48A8-A0A6-3E12AD856D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162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EF483-895F-F61A-8015-4C10997D2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1BF74E-7DEE-EEDA-648E-B662EE507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1461D-E93A-C91E-19FF-77D9946DD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05251-78F4-4AC6-9802-334FC921E382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DEED5-DDE2-6152-3599-8AD82573E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3A42A-E032-8684-73E8-8FC34F78F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3DE5A-5CB3-48A8-A0A6-3E12AD856D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8157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8FEA64-F771-9DA9-1FDB-BCCDDD80F3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F954B7-CD84-0092-44F5-FEA7A7384B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96799-3C64-1AD7-6154-2CD2186DD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05251-78F4-4AC6-9802-334FC921E382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0F2F1-BD65-BF0D-C736-02B708F8A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25E76-D99B-3CD1-9AFF-8AC9CFDF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3DE5A-5CB3-48A8-A0A6-3E12AD856D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0333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D68768-630C-C8D5-2E59-AE4171CD8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739173-405F-5ED3-05AC-21AF37C99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6AD38-9794-5EAC-41D5-77F651C159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D05251-78F4-4AC6-9802-334FC921E382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6CB45-4121-504C-9C8F-B207822882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4306C-059B-2556-BD92-41F8657074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33DE5A-5CB3-48A8-A0A6-3E12AD856D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60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AMBITDAS-1/npa_management_tool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90AB3-00E0-F7CD-154F-60FB71B7DC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NPA MANAGEMENT TOOL</a:t>
            </a:r>
            <a:br>
              <a:rPr lang="en-IN" b="1"/>
            </a:br>
            <a:br>
              <a:rPr lang="en-IN" b="1"/>
            </a:br>
            <a:r>
              <a:rPr lang="en-IN" sz="2700" b="1"/>
              <a:t>AI </a:t>
            </a:r>
            <a:r>
              <a:rPr lang="en-IN" sz="2700" b="1" dirty="0"/>
              <a:t>ASSISTANT FOR NPA MANAGEMENT IN PUBLIC SECTOR BANKS</a:t>
            </a:r>
            <a:endParaRPr lang="en-IN" sz="53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C903AB-830A-C138-1EB2-A8359AD9D0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r"/>
            <a:endParaRPr lang="en-IN" b="1" dirty="0"/>
          </a:p>
          <a:p>
            <a:pPr algn="r"/>
            <a:endParaRPr lang="en-IN" b="1" dirty="0"/>
          </a:p>
          <a:p>
            <a:pPr algn="r"/>
            <a:endParaRPr lang="en-IN" b="1" dirty="0"/>
          </a:p>
          <a:p>
            <a:pPr algn="r"/>
            <a:r>
              <a:rPr lang="en-IN" b="1" dirty="0"/>
              <a:t>Presented by – Sambit Kumar Das</a:t>
            </a:r>
            <a:endParaRPr lang="en-IN" sz="1000" b="1" dirty="0"/>
          </a:p>
        </p:txBody>
      </p:sp>
    </p:spTree>
    <p:extLst>
      <p:ext uri="{BB962C8B-B14F-4D97-AF65-F5344CB8AC3E}">
        <p14:creationId xmlns:p14="http://schemas.microsoft.com/office/powerpoint/2010/main" val="762997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179D7-4791-06F9-0CB4-A7F9AB202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233FA-5CEC-CB7C-E633-D6153911E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Banks advance loans to individuals and corporates</a:t>
            </a:r>
          </a:p>
          <a:p>
            <a:r>
              <a:rPr lang="en-IN" dirty="0"/>
              <a:t>Loans are classified as Performing and Non Performing assets</a:t>
            </a:r>
          </a:p>
          <a:p>
            <a:r>
              <a:rPr lang="en-IN" dirty="0"/>
              <a:t>If interest and/or </a:t>
            </a:r>
            <a:r>
              <a:rPr lang="en-IN" dirty="0" err="1"/>
              <a:t>installments</a:t>
            </a:r>
            <a:r>
              <a:rPr lang="en-IN" dirty="0"/>
              <a:t> are due for 90 days, loan turns NPA</a:t>
            </a:r>
          </a:p>
          <a:p>
            <a:r>
              <a:rPr lang="en-IN" dirty="0"/>
              <a:t>NPA erodes the profitability of banks</a:t>
            </a:r>
          </a:p>
          <a:p>
            <a:r>
              <a:rPr lang="en-IN" dirty="0"/>
              <a:t>Banks have their NPA recovery policies and procedures</a:t>
            </a:r>
          </a:p>
          <a:p>
            <a:r>
              <a:rPr lang="en-IN" dirty="0"/>
              <a:t>Bank officers follow established procedures as corrective action</a:t>
            </a:r>
          </a:p>
          <a:p>
            <a:r>
              <a:rPr lang="en-IN" dirty="0"/>
              <a:t>Banks coordinate with borrowers for account upgradation				</a:t>
            </a:r>
          </a:p>
        </p:txBody>
      </p:sp>
    </p:spTree>
    <p:extLst>
      <p:ext uri="{BB962C8B-B14F-4D97-AF65-F5344CB8AC3E}">
        <p14:creationId xmlns:p14="http://schemas.microsoft.com/office/powerpoint/2010/main" val="2785021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C8A04-466B-46BA-2B2D-11B478BF0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RESEARCH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0687B-B52D-809B-0AA2-54099123F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Study of operational workflows of recovery officers revealed four core points of concern that this tool seeks to address.</a:t>
            </a:r>
          </a:p>
          <a:p>
            <a:pPr marL="0" indent="0">
              <a:buNone/>
            </a:pPr>
            <a:endParaRPr lang="en-IN" dirty="0"/>
          </a:p>
          <a:p>
            <a:pPr marL="514350" indent="-514350">
              <a:buAutoNum type="arabicPeriod"/>
            </a:pPr>
            <a:r>
              <a:rPr lang="en-IN" dirty="0"/>
              <a:t>Officers lack knowledge about the comprehensive policy</a:t>
            </a:r>
          </a:p>
          <a:p>
            <a:pPr marL="514350" indent="-514350">
              <a:buAutoNum type="arabicPeriod"/>
            </a:pPr>
            <a:r>
              <a:rPr lang="en-IN" dirty="0"/>
              <a:t>Inconsistency in account level required action</a:t>
            </a:r>
          </a:p>
          <a:p>
            <a:pPr marL="514350" indent="-514350">
              <a:buAutoNum type="arabicPeriod"/>
            </a:pPr>
            <a:r>
              <a:rPr lang="en-IN" dirty="0"/>
              <a:t>Absence of branch NPA portfolio for picturisation</a:t>
            </a:r>
          </a:p>
          <a:p>
            <a:pPr marL="514350" indent="-514350">
              <a:buAutoNum type="arabicPeriod"/>
            </a:pPr>
            <a:r>
              <a:rPr lang="en-IN" dirty="0"/>
              <a:t>Delay in decision making </a:t>
            </a:r>
          </a:p>
        </p:txBody>
      </p:sp>
    </p:spTree>
    <p:extLst>
      <p:ext uri="{BB962C8B-B14F-4D97-AF65-F5344CB8AC3E}">
        <p14:creationId xmlns:p14="http://schemas.microsoft.com/office/powerpoint/2010/main" val="1195312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720EA-B3A6-54B2-0F59-F7034BCB5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RESEARCH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4A7C0-D5AB-720B-A725-4826DABF3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IN" dirty="0"/>
              <a:t>NPA policy document of bank in pdf format was obtained</a:t>
            </a:r>
          </a:p>
          <a:p>
            <a:pPr marL="514350" indent="-514350">
              <a:buAutoNum type="arabicPeriod"/>
            </a:pPr>
            <a:r>
              <a:rPr lang="en-IN" dirty="0"/>
              <a:t>RAG pipeline was implemented to respond queries</a:t>
            </a:r>
          </a:p>
          <a:p>
            <a:pPr marL="514350" indent="-514350">
              <a:buAutoNum type="arabicPeriod"/>
            </a:pPr>
            <a:r>
              <a:rPr lang="en-IN" dirty="0"/>
              <a:t>Account wise data was stored in csv format</a:t>
            </a:r>
          </a:p>
          <a:p>
            <a:pPr marL="514350" indent="-514350">
              <a:buAutoNum type="arabicPeriod"/>
            </a:pPr>
            <a:r>
              <a:rPr lang="en-IN" dirty="0"/>
              <a:t>Three tools have been used to answer queries, give account status and branch NPA portfolio</a:t>
            </a:r>
          </a:p>
          <a:p>
            <a:pPr marL="514350" indent="-514350">
              <a:buAutoNum type="arabicPeriod"/>
            </a:pPr>
            <a:r>
              <a:rPr lang="en-IN" dirty="0"/>
              <a:t>A master agent identifies and runs the individual agent based on user requirement</a:t>
            </a:r>
          </a:p>
        </p:txBody>
      </p:sp>
    </p:spTree>
    <p:extLst>
      <p:ext uri="{BB962C8B-B14F-4D97-AF65-F5344CB8AC3E}">
        <p14:creationId xmlns:p14="http://schemas.microsoft.com/office/powerpoint/2010/main" val="2129030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19160-B953-E7DE-1671-A640BE4EB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TOOLS AND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7076F-CE34-2089-E8CE-1C481C60B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Following dependencies have been used in the application.</a:t>
            </a:r>
          </a:p>
          <a:p>
            <a:endParaRPr lang="en-IN" dirty="0"/>
          </a:p>
          <a:p>
            <a:r>
              <a:rPr lang="en-IN" b="1" dirty="0"/>
              <a:t>FAISS </a:t>
            </a:r>
            <a:r>
              <a:rPr lang="en-IN" dirty="0"/>
              <a:t>– vector database used to store and retrieve embeddings </a:t>
            </a:r>
          </a:p>
          <a:p>
            <a:r>
              <a:rPr lang="en-IN" b="1" dirty="0" err="1"/>
              <a:t>LangChain</a:t>
            </a:r>
            <a:r>
              <a:rPr lang="en-IN" b="1" dirty="0"/>
              <a:t> </a:t>
            </a:r>
            <a:r>
              <a:rPr lang="en-IN" dirty="0"/>
              <a:t>– Framework to build LLM-powered applications </a:t>
            </a:r>
          </a:p>
          <a:p>
            <a:r>
              <a:rPr lang="en-IN" b="1" dirty="0"/>
              <a:t>Pandas </a:t>
            </a:r>
            <a:r>
              <a:rPr lang="en-IN" dirty="0"/>
              <a:t>– Python library used to process and </a:t>
            </a:r>
            <a:r>
              <a:rPr lang="en-IN" dirty="0" err="1"/>
              <a:t>analyze</a:t>
            </a:r>
            <a:r>
              <a:rPr lang="en-IN" dirty="0"/>
              <a:t> CSV file</a:t>
            </a:r>
          </a:p>
          <a:p>
            <a:r>
              <a:rPr lang="en-IN" b="1" dirty="0" err="1"/>
              <a:t>pdfplumber</a:t>
            </a:r>
            <a:r>
              <a:rPr lang="en-IN" b="1" dirty="0"/>
              <a:t> </a:t>
            </a:r>
            <a:r>
              <a:rPr lang="en-IN" dirty="0"/>
              <a:t>– Extracts text and tables from PDF files for further processing.</a:t>
            </a:r>
          </a:p>
          <a:p>
            <a:r>
              <a:rPr lang="en-IN" b="1" dirty="0" err="1"/>
              <a:t>Pydantic</a:t>
            </a:r>
            <a:r>
              <a:rPr lang="en-IN" b="1" dirty="0"/>
              <a:t> </a:t>
            </a:r>
            <a:r>
              <a:rPr lang="en-IN" dirty="0"/>
              <a:t>– Validates and structures data using Python models </a:t>
            </a:r>
          </a:p>
          <a:p>
            <a:r>
              <a:rPr lang="en-IN" b="1" dirty="0"/>
              <a:t>rank-bm25 </a:t>
            </a:r>
            <a:r>
              <a:rPr lang="en-IN" dirty="0"/>
              <a:t>– Implements BM25 algorithm for keyword-based document retrieval.</a:t>
            </a:r>
          </a:p>
          <a:p>
            <a:r>
              <a:rPr lang="en-IN" b="1" dirty="0" err="1"/>
              <a:t>Streamlit</a:t>
            </a:r>
            <a:r>
              <a:rPr lang="en-IN" b="1" dirty="0"/>
              <a:t> </a:t>
            </a:r>
            <a:r>
              <a:rPr lang="en-IN" dirty="0"/>
              <a:t>– building interactive web UI for the tool</a:t>
            </a:r>
          </a:p>
          <a:p>
            <a:r>
              <a:rPr lang="en-IN" b="1" dirty="0"/>
              <a:t>Tabulate </a:t>
            </a:r>
            <a:r>
              <a:rPr lang="en-IN" dirty="0"/>
              <a:t>– Formats data into readable tables for display in UI.</a:t>
            </a:r>
          </a:p>
          <a:p>
            <a:r>
              <a:rPr lang="en-IN" b="1" dirty="0"/>
              <a:t>OpenAI </a:t>
            </a:r>
            <a:r>
              <a:rPr lang="en-IN" dirty="0"/>
              <a:t>– LLMs and embeddings used for reasoning, answering, and semantic search.</a:t>
            </a:r>
          </a:p>
        </p:txBody>
      </p:sp>
    </p:spTree>
    <p:extLst>
      <p:ext uri="{BB962C8B-B14F-4D97-AF65-F5344CB8AC3E}">
        <p14:creationId xmlns:p14="http://schemas.microsoft.com/office/powerpoint/2010/main" val="81062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13BD1-B302-04A2-D226-BA6996AA2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3D6D6-F6D1-6CB9-C25D-2661F158C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LLM plus RAG plus structured data  help in complex decision making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Manual policy reference and report generation has been automated through the tool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Advanced RAG is required for interpreting tabular data and policy guidelines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Conversational memory maintains balance between contextual accuracy and token efficiency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The tool serves as a trainer for new employees to ensure policy compliance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906824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C6152-70F2-1669-4DF4-0376C716E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PROJECT SOURCE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CB957-7530-3298-4073-D6F5A76CD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NPA Management tool is available on GITHUV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>
                <a:hlinkClick r:id="rId2"/>
              </a:rPr>
              <a:t>https://github.com/SAMBITDAS-1/npa_management_tool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0106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CC5DB-9BE4-A790-C07B-F6A8C2D76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IN" sz="6000" b="1" dirty="0"/>
            </a:br>
            <a:br>
              <a:rPr lang="en-IN" sz="6000" b="1" dirty="0"/>
            </a:br>
            <a:br>
              <a:rPr lang="en-IN" sz="6000" b="1" dirty="0"/>
            </a:br>
            <a:r>
              <a:rPr lang="en-IN" sz="6000" b="1" dirty="0"/>
              <a:t>THANK YOU</a:t>
            </a:r>
            <a:br>
              <a:rPr lang="en-IN" sz="6000" b="1" dirty="0"/>
            </a:br>
            <a:br>
              <a:rPr lang="en-IN" sz="6000" b="1" dirty="0"/>
            </a:br>
            <a:r>
              <a:rPr lang="en-IN" sz="6000" b="1" dirty="0"/>
              <a:t>VISION AID TEAM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408C7-3344-5D6F-067D-BBFE1EC3E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4934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655</TotalTime>
  <Words>392</Words>
  <Application>Microsoft Office PowerPoint</Application>
  <PresentationFormat>Widescreen</PresentationFormat>
  <Paragraphs>53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NPA MANAGEMENT TOOL  AI ASSISTANT FOR NPA MANAGEMENT IN PUBLIC SECTOR BANKS</vt:lpstr>
      <vt:lpstr>PROJECT OVERVIEW</vt:lpstr>
      <vt:lpstr>RESEARCH PROBLEM</vt:lpstr>
      <vt:lpstr>RESEARCH METHODOLOGY</vt:lpstr>
      <vt:lpstr>TOOLS AND TECHNIQUES</vt:lpstr>
      <vt:lpstr>KEY TAKEAWAYS</vt:lpstr>
      <vt:lpstr>PROJECT SOURCE</vt:lpstr>
      <vt:lpstr>   THANK YOU  VISION AID TEAM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sambit das</dc:creator>
  <cp:lastModifiedBy>sambit das</cp:lastModifiedBy>
  <cp:revision>43</cp:revision>
  <dcterms:created xsi:type="dcterms:W3CDTF">2026-03-25T03:17:44Z</dcterms:created>
  <dcterms:modified xsi:type="dcterms:W3CDTF">2026-03-27T11:53:59Z</dcterms:modified>
</cp:coreProperties>
</file>